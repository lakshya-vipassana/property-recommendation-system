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01"/>
    <p:restoredTop sz="94756"/>
  </p:normalViewPr>
  <p:slideViewPr>
    <p:cSldViewPr snapToGrid="0">
      <p:cViewPr varScale="1">
        <p:scale>
          <a:sx n="105" d="100"/>
          <a:sy n="105" d="100"/>
        </p:scale>
        <p:origin x="20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2C66D9-950C-CF4E-8BD0-075AA6720AFF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2EE3DB-198E-5540-9C55-228E06FD8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937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2EE3DB-198E-5540-9C55-228E06FD8C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53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1C8D6-F9F2-4781-C319-45BD7CD02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395500-0BEB-1F9F-CD99-469344087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C14B-928F-6F40-26D7-C71DCC2FE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8B484-3575-3B18-C0CF-39F77B76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C14B-FE1C-75B6-471D-F6AF955FE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59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B0ED-98F2-5128-D31D-644128A3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1D07-175E-ABBA-F7F0-7E27C17DA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A9734-CF6A-50BD-2706-F2B1AF66A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E2845-CCC5-EF9B-CEE4-E34776501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91414-22D3-5167-4E83-09ECA99B5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D34EF-CA02-A2F6-5B9E-AED191774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4B679-D815-DB35-5BAE-9BC62A631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1FFDA-4B37-6819-201A-C6D673D1D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4994-02E0-8F11-77EA-0DEB41F1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39258-691B-4C56-AA1E-343E5EE3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8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24A1F-462C-794C-3F3E-92EA7FA45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EA9FD-ECA4-66DD-D6E6-18C876C06F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F4D61-AA59-79C0-579B-F32C1CEC0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29DDD-110B-5E4F-35C8-E1575DAEA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61793E-474D-C2FB-7FA3-1D924B333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BBCBC6-A830-9BC5-0D2B-C09296FF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864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FF509-4A20-B102-2B93-B871A5257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870429-C26B-1C6B-31D6-30540ED7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20D72-FAD2-FC9F-2D7F-248D78874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500942-DBB8-1516-25BD-955D51944D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26AAB-FDEB-84ED-51A0-B81E345D60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FDAFA1-5BED-9D24-607C-8321AB525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E961A0-08CE-7999-20FB-D0CF70AE9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A8113-5A02-D467-1F58-55D018FE3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52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FA336-6BD4-84F5-98E6-9F09AF7A7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D3A52-29B1-11C7-F935-B65155601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4B1C0-E1F8-9D77-6EA9-4E455F77F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8952E-94D8-29E1-B3DB-29571756D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8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2CFD01-13ED-EFB7-C5EE-63E1AE860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F61FF5-3CA9-9223-CF17-87D69083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07E1-541A-15FD-1C69-E11EF8480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5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46714-10C4-74DC-F129-41ED38D4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9F3BC-B2F3-7C06-1337-230739E22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E8814-D840-DF6D-63FF-EA421CF8D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C2CC7-427B-630C-96C4-1EB726416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8A44D-C7C4-C63A-E23B-55E17FCF2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CA7DC-0ECE-C35A-5AC1-CFD78289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830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3BE8-15EF-C618-FCA4-3BC5607C6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2D47FD-0A23-5C1F-0F02-B8E855A478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71547-1446-2A74-3C37-30CFF6711D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70F28-384E-6AB4-5DC8-FB98FC9F7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900E9-7B7D-2F64-3551-4A5F2C687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5E017B-94BC-FB7E-4A25-B5D16D5D0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39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9B25-B503-0C57-706A-14BF03DC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4C0EF4-B9E8-958D-D976-2EA46D6F9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01707-3826-FD62-0E75-EEB110834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AC1C7-AF5A-8057-295C-5BCDF012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9BCBF-C94E-F5B4-40EB-589FFC810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96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5DE04C-3408-D04D-A531-CACF513EF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56DE0-0B21-F4C3-2D11-7AE9612F0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72860-A2C4-2807-3687-D09ACD172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E892-CEC1-6E08-065C-88BDC19DB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528C1-F821-EC8F-0EF5-7A72EE371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57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E73AD9-C3D2-D2EE-2D89-0E39BEFE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EEADE4-5BE2-A220-952A-00255E615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279AB-77C7-3083-E8FD-9EB5AF5AE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37135-CEE8-B446-9ACB-3E8DC466E4F9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B59BB-D07C-39D7-6323-25F844686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C092A-3470-8C6A-353A-9CBBDA2CA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2A2DEB-8E47-5C4C-BAFB-4EB2317D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7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4127-CBDB-836E-C7A7-67D28D6C0E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7119" y="1111171"/>
            <a:ext cx="10837762" cy="1218175"/>
          </a:xfrm>
        </p:spPr>
        <p:txBody>
          <a:bodyPr>
            <a:noAutofit/>
          </a:bodyPr>
          <a:lstStyle/>
          <a:p>
            <a:r>
              <a:rPr lang="en-I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Matching Using User Preferences (AI-driven Ranking System)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B646BC-381C-5D70-6081-C1FBDBC1D5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3336" y="2467722"/>
            <a:ext cx="10305327" cy="495400"/>
          </a:xfrm>
        </p:spPr>
        <p:txBody>
          <a:bodyPr>
            <a:normAutofit/>
          </a:bodyPr>
          <a:lstStyle/>
          <a:p>
            <a:r>
              <a:rPr lang="en-I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is to align user intent with properties under real-world constraints.</a:t>
            </a:r>
            <a:endParaRPr lang="en-US" sz="1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A85E4-B4A2-67D9-2822-AF70E0C6745C}"/>
              </a:ext>
            </a:extLst>
          </p:cNvPr>
          <p:cNvSpPr txBox="1"/>
          <p:nvPr/>
        </p:nvSpPr>
        <p:spPr>
          <a:xfrm>
            <a:off x="462987" y="5632007"/>
            <a:ext cx="46182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Lakshya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Vipassana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 : 24ID60R35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: lakshyav299@gmail.com</a:t>
            </a:r>
          </a:p>
        </p:txBody>
      </p:sp>
    </p:spTree>
    <p:extLst>
      <p:ext uri="{BB962C8B-B14F-4D97-AF65-F5344CB8AC3E}">
        <p14:creationId xmlns:p14="http://schemas.microsoft.com/office/powerpoint/2010/main" val="2386388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59C7-E220-62C0-F027-D45947773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ABAB2-3449-6687-CBAE-7F3125B55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b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 properties that best align with user needs and preferences rather than finding an exact match.</a:t>
            </a:r>
          </a:p>
          <a:p>
            <a:pPr>
              <a:lnSpc>
                <a:spcPct val="100000"/>
              </a:lnSpc>
            </a:pP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Hard Constraints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budget (upper-bound constraint, but noisy)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bedroom requirement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16DB1E-C31E-B1A9-E9BB-71D00CD107B3}"/>
              </a:ext>
            </a:extLst>
          </p:cNvPr>
          <p:cNvSpPr txBox="1"/>
          <p:nvPr/>
        </p:nvSpPr>
        <p:spPr>
          <a:xfrm>
            <a:off x="4514129" y="2779774"/>
            <a:ext cx="287129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00000"/>
              </a:lnSpc>
              <a:buAutoNum type="arabicPeriod" startAt="2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Preferences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Amenities and lifestyle features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preferences expressed in text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value (price vs space)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110AC-4F80-DC54-BB0F-94CB81F50A1D}"/>
              </a:ext>
            </a:extLst>
          </p:cNvPr>
          <p:cNvSpPr txBox="1"/>
          <p:nvPr/>
        </p:nvSpPr>
        <p:spPr>
          <a:xfrm>
            <a:off x="7677872" y="2779774"/>
            <a:ext cx="4514128" cy="1136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Data Reality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Preferences are subjective and inconsistently expressed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Property descriptions are marketing-oriented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Noisy data prevents binary matching</a:t>
            </a:r>
          </a:p>
        </p:txBody>
      </p:sp>
    </p:spTree>
    <p:extLst>
      <p:ext uri="{BB962C8B-B14F-4D97-AF65-F5344CB8AC3E}">
        <p14:creationId xmlns:p14="http://schemas.microsoft.com/office/powerpoint/2010/main" val="348166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0AF2-D170-04FF-FA43-DBA46FA0F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444B9-0A6B-DC71-F4F8-457FA63F3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EDA Insights That Drove Design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A3E5E-31F0-A223-1986-A25258CBE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498" y="1839650"/>
            <a:ext cx="4884514" cy="8016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Prices and budgets are right-skewed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Linear assumptions fail; log scaling and non-linear scoring are required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C6A62B5-B5AB-28CB-C937-9DF0C3E76351}"/>
              </a:ext>
            </a:extLst>
          </p:cNvPr>
          <p:cNvSpPr txBox="1">
            <a:spLocks/>
          </p:cNvSpPr>
          <p:nvPr/>
        </p:nvSpPr>
        <p:spPr>
          <a:xfrm>
            <a:off x="884498" y="2913340"/>
            <a:ext cx="4648202" cy="8262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Bedrooms are weak predictors of price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Bedrooms should act as minimum filters, not dominant features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A5833D-19A4-D435-2C4C-727ECB1B656F}"/>
              </a:ext>
            </a:extLst>
          </p:cNvPr>
          <p:cNvSpPr txBox="1">
            <a:spLocks/>
          </p:cNvSpPr>
          <p:nvPr/>
        </p:nvSpPr>
        <p:spPr>
          <a:xfrm>
            <a:off x="884498" y="3944660"/>
            <a:ext cx="4081041" cy="6196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Living area alone does not explain value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Price-per-</a:t>
            </a:r>
            <a:r>
              <a:rPr lang="en-I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sqft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stronger signal of location and quality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737DB-FF1E-547C-8E48-97BC5C83B0B6}"/>
              </a:ext>
            </a:extLst>
          </p:cNvPr>
          <p:cNvSpPr txBox="1">
            <a:spLocks/>
          </p:cNvSpPr>
          <p:nvPr/>
        </p:nvSpPr>
        <p:spPr>
          <a:xfrm>
            <a:off x="6266723" y="1838925"/>
            <a:ext cx="4405132" cy="9836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budgets and property prices overlap, but supply is clustered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Strict budget cut-offs would eliminate valid recommendations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C84AFAB-51F9-A6AD-9FAF-1B09A783D405}"/>
              </a:ext>
            </a:extLst>
          </p:cNvPr>
          <p:cNvSpPr txBox="1">
            <a:spLocks/>
          </p:cNvSpPr>
          <p:nvPr/>
        </p:nvSpPr>
        <p:spPr>
          <a:xfrm>
            <a:off x="6266723" y="3251027"/>
            <a:ext cx="4763951" cy="9770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and amenities capture perceived value better than raw size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Semantic similarity and amenity overlap must influence ranking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DBC59-81F5-2C97-8F80-B62EE5DAB1AB}"/>
              </a:ext>
            </a:extLst>
          </p:cNvPr>
          <p:cNvSpPr txBox="1"/>
          <p:nvPr/>
        </p:nvSpPr>
        <p:spPr>
          <a:xfrm>
            <a:off x="886906" y="5788440"/>
            <a:ext cx="107596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i="1" dirty="0">
                <a:solidFill>
                  <a:schemeClr val="tx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 confirmed that property matching is a ranking problem under uncertainty, not a binary filtering task.</a:t>
            </a:r>
            <a:endParaRPr lang="en-US" sz="1200" i="1" dirty="0">
              <a:solidFill>
                <a:schemeClr val="tx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115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B9C7-4D93-1692-AB6D-87E45D7B4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A61FAA-2E16-3AA2-AF48-A97D0782E068}"/>
              </a:ext>
            </a:extLst>
          </p:cNvPr>
          <p:cNvSpPr/>
          <p:nvPr/>
        </p:nvSpPr>
        <p:spPr>
          <a:xfrm>
            <a:off x="300942" y="2164467"/>
            <a:ext cx="2118167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Input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221414-C3E7-41EC-E444-C5013F5F073F}"/>
              </a:ext>
            </a:extLst>
          </p:cNvPr>
          <p:cNvSpPr/>
          <p:nvPr/>
        </p:nvSpPr>
        <p:spPr>
          <a:xfrm>
            <a:off x="3071150" y="2164467"/>
            <a:ext cx="2118167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 Filters</a:t>
            </a:r>
          </a:p>
          <a:p>
            <a:pPr algn="ctr"/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(Budget, Bathrooms)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8F124A-71D2-9A54-F7A3-E14017C526E2}"/>
              </a:ext>
            </a:extLst>
          </p:cNvPr>
          <p:cNvSpPr/>
          <p:nvPr/>
        </p:nvSpPr>
        <p:spPr>
          <a:xfrm>
            <a:off x="5841358" y="2164467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Similarity Scoring</a:t>
            </a:r>
          </a:p>
          <a:p>
            <a:pPr algn="ctr"/>
            <a:r>
              <a:rPr lang="en-US" sz="1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(Text, Amenities, Price, Area)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39BE1-F6F4-41B0-54A5-0A18A0BC0820}"/>
              </a:ext>
            </a:extLst>
          </p:cNvPr>
          <p:cNvSpPr/>
          <p:nvPr/>
        </p:nvSpPr>
        <p:spPr>
          <a:xfrm>
            <a:off x="9259748" y="2164467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Weighted Match Score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E53726-3AF0-19D6-F54D-64B90110B746}"/>
              </a:ext>
            </a:extLst>
          </p:cNvPr>
          <p:cNvSpPr/>
          <p:nvPr/>
        </p:nvSpPr>
        <p:spPr>
          <a:xfrm>
            <a:off x="9259748" y="4698591"/>
            <a:ext cx="2766348" cy="85652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Top-N Ranked Properties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D69235-A1E4-69B3-8235-1D2BE9D2211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419109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3612BC0-94B7-5BB4-1240-8873239FEA6F}"/>
              </a:ext>
            </a:extLst>
          </p:cNvPr>
          <p:cNvCxnSpPr>
            <a:cxnSpLocks/>
          </p:cNvCxnSpPr>
          <p:nvPr/>
        </p:nvCxnSpPr>
        <p:spPr>
          <a:xfrm>
            <a:off x="5185458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83953B-90DC-17B9-A611-CD19A3FF9966}"/>
              </a:ext>
            </a:extLst>
          </p:cNvPr>
          <p:cNvCxnSpPr>
            <a:cxnSpLocks/>
          </p:cNvCxnSpPr>
          <p:nvPr/>
        </p:nvCxnSpPr>
        <p:spPr>
          <a:xfrm>
            <a:off x="8611564" y="2592730"/>
            <a:ext cx="6520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05524B-96C5-7131-3BA9-E7ECA7B541DD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642922" y="3020993"/>
            <a:ext cx="0" cy="16775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F1324B3-F268-A2D6-4DB1-75315AAD1889}"/>
              </a:ext>
            </a:extLst>
          </p:cNvPr>
          <p:cNvSpPr txBox="1"/>
          <p:nvPr/>
        </p:nvSpPr>
        <p:spPr>
          <a:xfrm>
            <a:off x="217725" y="3098343"/>
            <a:ext cx="2284600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bedrooms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preferences (text)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1AB8FD-5539-3370-849C-2F55367F985F}"/>
              </a:ext>
            </a:extLst>
          </p:cNvPr>
          <p:cNvSpPr txBox="1"/>
          <p:nvPr/>
        </p:nvSpPr>
        <p:spPr>
          <a:xfrm>
            <a:off x="2698009" y="3111108"/>
            <a:ext cx="31830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Filters (Feasibility Layer)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Remove impossible options early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≤ Budget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Bedrooms ≥ Required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7D4D97-D6A2-B9FF-2DBD-575A3293AB30}"/>
              </a:ext>
            </a:extLst>
          </p:cNvPr>
          <p:cNvSpPr txBox="1"/>
          <p:nvPr/>
        </p:nvSpPr>
        <p:spPr>
          <a:xfrm>
            <a:off x="5752619" y="3111108"/>
            <a:ext cx="3183025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Similarity Scoring (Preference Layer)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Rank </a:t>
            </a:r>
            <a:r>
              <a:rPr lang="en-I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good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options, not filtered them</a:t>
            </a:r>
          </a:p>
          <a:p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Computed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similarity signals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SBERT + cosine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Amenity overlap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Jaccard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log-scaled distance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 similarity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log-scaled distance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3E4595-60DD-734D-8922-AADCD057EC37}"/>
              </a:ext>
            </a:extLst>
          </p:cNvPr>
          <p:cNvSpPr txBox="1"/>
          <p:nvPr/>
        </p:nvSpPr>
        <p:spPr>
          <a:xfrm>
            <a:off x="9259748" y="3417590"/>
            <a:ext cx="162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Match Score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879FDE-7275-EEF6-B14B-95AAE0F15830}"/>
              </a:ext>
            </a:extLst>
          </p:cNvPr>
          <p:cNvSpPr txBox="1"/>
          <p:nvPr/>
        </p:nvSpPr>
        <p:spPr>
          <a:xfrm>
            <a:off x="9342437" y="5697758"/>
            <a:ext cx="280325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Top-N Ranking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</a:t>
            </a:r>
            <a:r>
              <a:rPr lang="en-I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ranked recommendations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binary ‘match / no-match’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comparison and choice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DE3C5F-02A0-7D9D-7D64-648BC02392D8}"/>
              </a:ext>
            </a:extLst>
          </p:cNvPr>
          <p:cNvSpPr txBox="1"/>
          <p:nvPr/>
        </p:nvSpPr>
        <p:spPr>
          <a:xfrm>
            <a:off x="10642922" y="3272461"/>
            <a:ext cx="16204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weighted combination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tune</a:t>
            </a:r>
          </a:p>
        </p:txBody>
      </p:sp>
    </p:spTree>
    <p:extLst>
      <p:ext uri="{BB962C8B-B14F-4D97-AF65-F5344CB8AC3E}">
        <p14:creationId xmlns:p14="http://schemas.microsoft.com/office/powerpoint/2010/main" val="1660429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296B9-2FC4-1214-3EFE-D469887A2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A6879-4558-CB3A-094E-4D3534C69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 Score Design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5B793-7C28-B276-2E7B-35FA4F278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8065" y="1798046"/>
            <a:ext cx="2674248" cy="1941518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 Score =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0.35 × Text Similarity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0.25 × Amenity Overlap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0.25 × Price Similarity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0.15 × Area 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BFEE27-DC25-5E70-4017-FD0C49C82D20}"/>
              </a:ext>
            </a:extLst>
          </p:cNvPr>
          <p:cNvSpPr txBox="1"/>
          <p:nvPr/>
        </p:nvSpPr>
        <p:spPr>
          <a:xfrm>
            <a:off x="886906" y="5788440"/>
            <a:ext cx="10759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i="1" dirty="0">
                <a:solidFill>
                  <a:schemeClr val="tx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Weights are business - tuneable, not learned.</a:t>
            </a:r>
          </a:p>
          <a:p>
            <a:r>
              <a:rPr lang="en-IN" sz="1400" i="1" dirty="0">
                <a:solidFill>
                  <a:schemeClr val="tx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 markets or user segments may require different weightings</a:t>
            </a:r>
            <a:r>
              <a:rPr lang="en-IN" sz="1200" i="1" dirty="0">
                <a:solidFill>
                  <a:schemeClr val="tx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200" i="1" dirty="0">
              <a:solidFill>
                <a:schemeClr val="tx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FF4A026-99C1-215D-6FD0-8EA1541C5279}"/>
              </a:ext>
            </a:extLst>
          </p:cNvPr>
          <p:cNvSpPr txBox="1">
            <a:spLocks/>
          </p:cNvSpPr>
          <p:nvPr/>
        </p:nvSpPr>
        <p:spPr>
          <a:xfrm>
            <a:off x="3736849" y="2154204"/>
            <a:ext cx="7616951" cy="19415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Captures user intent and lifestyle preferences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Reflect explicit, conscious requirements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Acts as feasibility signal and soft ranking constraint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Provides context but weakly predicts desirability</a:t>
            </a:r>
          </a:p>
        </p:txBody>
      </p:sp>
    </p:spTree>
    <p:extLst>
      <p:ext uri="{BB962C8B-B14F-4D97-AF65-F5344CB8AC3E}">
        <p14:creationId xmlns:p14="http://schemas.microsoft.com/office/powerpoint/2010/main" val="991903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FB48-57C9-8ABA-72EB-E52DE7CBD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4A36D-D91A-D4E3-02AD-A0BDCF8D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Choices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0B1D7-B358-5413-BF4B-086148349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046"/>
            <a:ext cx="10515600" cy="2551532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Sentence-BERT (all-MiniLM-L6-v2)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Amenity Extraction</a:t>
            </a:r>
          </a:p>
          <a:p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Pretrained embeddings capture semantic intent without requiring labelled data.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avoids training instability and improves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explainability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 noisy, preference-driven domain.</a:t>
            </a:r>
          </a:p>
        </p:txBody>
      </p:sp>
    </p:spTree>
    <p:extLst>
      <p:ext uri="{BB962C8B-B14F-4D97-AF65-F5344CB8AC3E}">
        <p14:creationId xmlns:p14="http://schemas.microsoft.com/office/powerpoint/2010/main" val="2112870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8A0F-6F06-D900-6177-7C755AAF1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2C813-55BE-DA06-0090-5C8395240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Recommendation &amp;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Explainability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49A0B-F9CD-FE03-C630-B466EE4DD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6150" y="4846320"/>
            <a:ext cx="3594100" cy="1024128"/>
          </a:xfrm>
        </p:spPr>
        <p:txBody>
          <a:bodyPr>
            <a:noAutofit/>
          </a:bodyPr>
          <a:lstStyle/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 sample user, the system ranks feasible properties based on overall alignment.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FDAD0-F5CC-B975-0398-255F5A073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91" y="1631778"/>
            <a:ext cx="3638873" cy="2882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C2DD68-4AEC-03FF-25A8-7F8E05DB1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150" y="1631778"/>
            <a:ext cx="3594100" cy="28829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DB439BA-FD3E-AB36-518E-DA88BA96A933}"/>
              </a:ext>
            </a:extLst>
          </p:cNvPr>
          <p:cNvSpPr txBox="1">
            <a:spLocks/>
          </p:cNvSpPr>
          <p:nvPr/>
        </p:nvSpPr>
        <p:spPr>
          <a:xfrm>
            <a:off x="5074920" y="4679632"/>
            <a:ext cx="6278880" cy="20015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Area is consistently acceptable</a:t>
            </a:r>
          </a:p>
          <a:p>
            <a:pPr marL="0" indent="0">
              <a:buNone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   Area similarity is high across all top matches, so it doesn’t drive ranking.</a:t>
            </a:r>
          </a:p>
          <a:p>
            <a:pPr marL="0" indent="0"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Price and amenities create separation</a:t>
            </a:r>
          </a:p>
          <a:p>
            <a:pPr marL="0" indent="0">
              <a:buNone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   Differences in price compatibility and amenity overlap explain ranking differences.</a:t>
            </a:r>
          </a:p>
          <a:p>
            <a:pPr marL="0" indent="0"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Text similarity is stable</a:t>
            </a:r>
          </a:p>
          <a:p>
            <a:pPr marL="0" indent="0">
              <a:buNone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    Semantic intent is aligned across top options, acting as a baseline.</a:t>
            </a:r>
          </a:p>
        </p:txBody>
      </p:sp>
    </p:spTree>
    <p:extLst>
      <p:ext uri="{BB962C8B-B14F-4D97-AF65-F5344CB8AC3E}">
        <p14:creationId xmlns:p14="http://schemas.microsoft.com/office/powerpoint/2010/main" val="3512410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4059A-97A5-A530-5315-5F7DD4A4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6F224-5E6B-12CF-55B9-75DA6980B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Recommendation &amp;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Explainability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E30D6-DDB0-B503-A86E-C05BFF9B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6150" y="4212336"/>
            <a:ext cx="10185668" cy="1024128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table shows the top recommendations along with the feature-level signals that explain why each property ranked where it did.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66D542-DBAE-7FA0-85DF-1AD6039D5B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575493"/>
              </p:ext>
            </p:extLst>
          </p:nvPr>
        </p:nvGraphicFramePr>
        <p:xfrm>
          <a:off x="946150" y="1864646"/>
          <a:ext cx="10185669" cy="1744186"/>
        </p:xfrm>
        <a:graphic>
          <a:graphicData uri="http://schemas.openxmlformats.org/drawingml/2006/table">
            <a:tbl>
              <a:tblPr/>
              <a:tblGrid>
                <a:gridCol w="1099171">
                  <a:extLst>
                    <a:ext uri="{9D8B030D-6E8A-4147-A177-3AD203B41FA5}">
                      <a16:colId xmlns:a16="http://schemas.microsoft.com/office/drawing/2014/main" val="3209232855"/>
                    </a:ext>
                  </a:extLst>
                </a:gridCol>
                <a:gridCol w="1392301">
                  <a:extLst>
                    <a:ext uri="{9D8B030D-6E8A-4147-A177-3AD203B41FA5}">
                      <a16:colId xmlns:a16="http://schemas.microsoft.com/office/drawing/2014/main" val="1144149492"/>
                    </a:ext>
                  </a:extLst>
                </a:gridCol>
                <a:gridCol w="1099171">
                  <a:extLst>
                    <a:ext uri="{9D8B030D-6E8A-4147-A177-3AD203B41FA5}">
                      <a16:colId xmlns:a16="http://schemas.microsoft.com/office/drawing/2014/main" val="1828929411"/>
                    </a:ext>
                  </a:extLst>
                </a:gridCol>
                <a:gridCol w="1099171">
                  <a:extLst>
                    <a:ext uri="{9D8B030D-6E8A-4147-A177-3AD203B41FA5}">
                      <a16:colId xmlns:a16="http://schemas.microsoft.com/office/drawing/2014/main" val="2906873505"/>
                    </a:ext>
                  </a:extLst>
                </a:gridCol>
                <a:gridCol w="1099171">
                  <a:extLst>
                    <a:ext uri="{9D8B030D-6E8A-4147-A177-3AD203B41FA5}">
                      <a16:colId xmlns:a16="http://schemas.microsoft.com/office/drawing/2014/main" val="3347447122"/>
                    </a:ext>
                  </a:extLst>
                </a:gridCol>
                <a:gridCol w="1099171">
                  <a:extLst>
                    <a:ext uri="{9D8B030D-6E8A-4147-A177-3AD203B41FA5}">
                      <a16:colId xmlns:a16="http://schemas.microsoft.com/office/drawing/2014/main" val="915763579"/>
                    </a:ext>
                  </a:extLst>
                </a:gridCol>
                <a:gridCol w="1346270">
                  <a:extLst>
                    <a:ext uri="{9D8B030D-6E8A-4147-A177-3AD203B41FA5}">
                      <a16:colId xmlns:a16="http://schemas.microsoft.com/office/drawing/2014/main" val="86226126"/>
                    </a:ext>
                  </a:extLst>
                </a:gridCol>
                <a:gridCol w="1146048">
                  <a:extLst>
                    <a:ext uri="{9D8B030D-6E8A-4147-A177-3AD203B41FA5}">
                      <a16:colId xmlns:a16="http://schemas.microsoft.com/office/drawing/2014/main" val="658072147"/>
                    </a:ext>
                  </a:extLst>
                </a:gridCol>
                <a:gridCol w="805195">
                  <a:extLst>
                    <a:ext uri="{9D8B030D-6E8A-4147-A177-3AD203B41FA5}">
                      <a16:colId xmlns:a16="http://schemas.microsoft.com/office/drawing/2014/main" val="3564761835"/>
                    </a:ext>
                  </a:extLst>
                </a:gridCol>
              </a:tblGrid>
              <a:tr h="642595">
                <a:tc>
                  <a:txBody>
                    <a:bodyPr/>
                    <a:lstStyle/>
                    <a:p>
                      <a:r>
                        <a:rPr lang="en-IN"/>
                        <a:t>Property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Match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Bedrooms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Area (sq ft)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Amenities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Price Fit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Area Fit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207100"/>
                  </a:ext>
                </a:extLst>
              </a:tr>
              <a:tr h="367197">
                <a:tc>
                  <a:txBody>
                    <a:bodyPr/>
                    <a:lstStyle/>
                    <a:p>
                      <a:r>
                        <a:rPr lang="en-IN"/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$400k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2227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240425"/>
                  </a:ext>
                </a:extLst>
              </a:tr>
              <a:tr h="367197">
                <a:tc>
                  <a:txBody>
                    <a:bodyPr/>
                    <a:lstStyle/>
                    <a:p>
                      <a:r>
                        <a:rPr lang="en-IN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0.53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$500k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1198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0.61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2889625"/>
                  </a:ext>
                </a:extLst>
              </a:tr>
              <a:tr h="367197">
                <a:tc>
                  <a:txBody>
                    <a:bodyPr/>
                    <a:lstStyle/>
                    <a:p>
                      <a:r>
                        <a:rPr lang="en-IN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$250k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1674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0.68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979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910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ED4AB-9A04-D316-CB9A-F2991CD2B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D8078-555B-71E3-A147-FE4D9CADE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Trade-offs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1558D-E4FD-02A2-B735-8F1528000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046"/>
            <a:ext cx="10515600" cy="4493026"/>
          </a:xfrm>
        </p:spPr>
        <p:txBody>
          <a:bodyPr>
            <a:noAutofit/>
          </a:bodyPr>
          <a:lstStyle/>
          <a:p>
            <a:pPr marL="342900" indent="-342900">
              <a:buAutoNum type="arabicPeriod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leakage in text embeddings.</a:t>
            </a:r>
          </a:p>
          <a:p>
            <a:pPr marL="0" indent="0">
              <a:buNone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Semantic leakage in text similarity (e.g., lake vs mountain)</a:t>
            </a:r>
          </a:p>
          <a:p>
            <a:pPr marL="0" indent="0">
              <a:buNone/>
            </a:pP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Pretrained embeddings may align semantically similar but contextually different preferences.</a:t>
            </a:r>
          </a:p>
          <a:p>
            <a:pPr marL="342900" indent="-342900">
              <a:buAutoNum type="arabicPeriod"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No user feedback loop</a:t>
            </a:r>
          </a:p>
          <a:p>
            <a:pPr marL="0" indent="0">
              <a:buNone/>
            </a:pPr>
            <a:r>
              <a:rPr lang="en-IN" sz="1000" dirty="0"/>
              <a:t>     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Rankings are not updated based on clicks, selections, or rejections.</a:t>
            </a:r>
          </a:p>
          <a:p>
            <a:pPr marL="0" indent="0">
              <a:buNone/>
            </a:pP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AutoNum type="arabicPeriod" startAt="3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explicit location grounding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</a:t>
            </a:r>
            <a:r>
              <a:rPr lang="en-I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preferences are inferred indirectly from price, text, and amenities.</a:t>
            </a:r>
          </a:p>
          <a:p>
            <a:pPr marL="0" indent="0">
              <a:buNone/>
            </a:pP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AutoNum type="arabicPeriod" startAt="4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Deterministic weights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</a:t>
            </a:r>
            <a:r>
              <a:rPr lang="en-IN" sz="1200" dirty="0"/>
              <a:t>Weights reflect design intent rather than learned optimization.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494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709</Words>
  <Application>Microsoft Macintosh PowerPoint</Application>
  <PresentationFormat>Widescreen</PresentationFormat>
  <Paragraphs>146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Property Matching Using User Preferences (AI-driven Ranking System)</vt:lpstr>
      <vt:lpstr>Problem Understanding</vt:lpstr>
      <vt:lpstr>Key EDA Insights That Drove Design</vt:lpstr>
      <vt:lpstr>System Architecture</vt:lpstr>
      <vt:lpstr>Match Score Design</vt:lpstr>
      <vt:lpstr>AI/ML Choices</vt:lpstr>
      <vt:lpstr>Example Recommendation &amp; Explainability</vt:lpstr>
      <vt:lpstr>Example Recommendation &amp; Explainability</vt:lpstr>
      <vt:lpstr>Challenges &amp; Trade-offs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Property Matching Using User Preferences (AI-driven Ranking System)</dc:title>
  <dc:creator>Lakshya Vipassana</dc:creator>
  <cp:lastModifiedBy>Lakshya Vipassana</cp:lastModifiedBy>
  <cp:revision>6</cp:revision>
  <dcterms:created xsi:type="dcterms:W3CDTF">2026-02-03T15:56:35Z</dcterms:created>
  <dcterms:modified xsi:type="dcterms:W3CDTF">2026-02-04T11:12:07Z</dcterms:modified>
</cp:coreProperties>
</file>